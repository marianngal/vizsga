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91" r:id="rId5"/>
    <p:sldId id="613" r:id="rId6"/>
    <p:sldId id="568" r:id="rId7"/>
    <p:sldId id="567" r:id="rId8"/>
    <p:sldId id="570" r:id="rId9"/>
    <p:sldId id="569" r:id="rId10"/>
    <p:sldId id="585" r:id="rId11"/>
    <p:sldId id="590" r:id="rId12"/>
    <p:sldId id="589" r:id="rId13"/>
    <p:sldId id="593" r:id="rId14"/>
    <p:sldId id="588" r:id="rId15"/>
    <p:sldId id="586" r:id="rId16"/>
    <p:sldId id="587" r:id="rId17"/>
    <p:sldId id="594" r:id="rId18"/>
    <p:sldId id="595" r:id="rId19"/>
    <p:sldId id="597" r:id="rId20"/>
    <p:sldId id="598" r:id="rId21"/>
    <p:sldId id="599" r:id="rId22"/>
    <p:sldId id="596" r:id="rId23"/>
    <p:sldId id="609" r:id="rId24"/>
    <p:sldId id="612" r:id="rId2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SS" id="{253312A1-FB68-41BB-97D8-009502CE5BF7}">
          <p14:sldIdLst>
            <p14:sldId id="591"/>
            <p14:sldId id="613"/>
            <p14:sldId id="568"/>
            <p14:sldId id="567"/>
            <p14:sldId id="570"/>
            <p14:sldId id="569"/>
            <p14:sldId id="585"/>
            <p14:sldId id="590"/>
            <p14:sldId id="589"/>
            <p14:sldId id="593"/>
            <p14:sldId id="588"/>
            <p14:sldId id="586"/>
            <p14:sldId id="587"/>
          </p14:sldIdLst>
        </p14:section>
        <p14:section name="Szelektorok" id="{4AEC1FE6-25B6-47EB-B64A-2C241915DECD}">
          <p14:sldIdLst>
            <p14:sldId id="594"/>
            <p14:sldId id="595"/>
            <p14:sldId id="597"/>
            <p14:sldId id="598"/>
            <p14:sldId id="599"/>
            <p14:sldId id="596"/>
          </p14:sldIdLst>
        </p14:section>
        <p14:section name="Vége" id="{ED37B6FE-B0F7-4659-98F6-E1E07A130A79}">
          <p14:sldIdLst>
            <p14:sldId id="609"/>
            <p14:sldId id="6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A431F-F645-0A29-416D-02009236218B}" v="1" dt="2024-06-23T17:48:20.216"/>
    <p1510:client id="{EB25D6EE-DA79-CD37-E0AE-47C5840061E3}" v="1" dt="2024-06-23T19:08:13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Közepesen sötét stílus 2 – 2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Közepesen sötét stílus 2 – 4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Világos stílus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recska Szilárd" userId="S::szilard.jurecska@umszki.hu::a868f86a-7d7e-4629-a73d-05f7105f3772" providerId="AD" clId="Web-{E1250A5A-2BE3-47E6-81E1-9E2770E42B42}"/>
    <pc:docChg chg="sldOrd">
      <pc:chgData name="Jurecska Szilárd" userId="S::szilard.jurecska@umszki.hu::a868f86a-7d7e-4629-a73d-05f7105f3772" providerId="AD" clId="Web-{E1250A5A-2BE3-47E6-81E1-9E2770E42B42}" dt="2023-10-07T21:49:51.894" v="0"/>
      <pc:docMkLst>
        <pc:docMk/>
      </pc:docMkLst>
      <pc:sldChg chg="ord">
        <pc:chgData name="Jurecska Szilárd" userId="S::szilard.jurecska@umszki.hu::a868f86a-7d7e-4629-a73d-05f7105f3772" providerId="AD" clId="Web-{E1250A5A-2BE3-47E6-81E1-9E2770E42B42}" dt="2023-10-07T21:49:51.894" v="0"/>
        <pc:sldMkLst>
          <pc:docMk/>
          <pc:sldMk cId="1962117107" sldId="465"/>
        </pc:sldMkLst>
      </pc:sldChg>
    </pc:docChg>
  </pc:docChgLst>
  <pc:docChgLst>
    <pc:chgData name="Kriston Dávid" userId="S::david.kriston@umszki.hu::54e85023-c1b6-4e74-99db-0713b476946e" providerId="AD" clId="Web-{EB25D6EE-DA79-CD37-E0AE-47C5840061E3}"/>
    <pc:docChg chg="sldOrd">
      <pc:chgData name="Kriston Dávid" userId="S::david.kriston@umszki.hu::54e85023-c1b6-4e74-99db-0713b476946e" providerId="AD" clId="Web-{EB25D6EE-DA79-CD37-E0AE-47C5840061E3}" dt="2024-06-23T19:08:13.728" v="0"/>
      <pc:docMkLst>
        <pc:docMk/>
      </pc:docMkLst>
      <pc:sldChg chg="ord">
        <pc:chgData name="Kriston Dávid" userId="S::david.kriston@umszki.hu::54e85023-c1b6-4e74-99db-0713b476946e" providerId="AD" clId="Web-{EB25D6EE-DA79-CD37-E0AE-47C5840061E3}" dt="2024-06-23T19:08:13.728" v="0"/>
        <pc:sldMkLst>
          <pc:docMk/>
          <pc:sldMk cId="369896875" sldId="567"/>
        </pc:sldMkLst>
      </pc:sldChg>
    </pc:docChg>
  </pc:docChgLst>
  <pc:docChgLst>
    <pc:chgData name="Kovács István" userId="S::istvan.kovacs@umszki.hu::d3e05e56-2ede-4f4d-8678-677b52aebd9e" providerId="AD" clId="Web-{259D5901-6AF1-4267-85A5-261D9BCFD0C3}"/>
    <pc:docChg chg="sldOrd">
      <pc:chgData name="Kovács István" userId="S::istvan.kovacs@umszki.hu::d3e05e56-2ede-4f4d-8678-677b52aebd9e" providerId="AD" clId="Web-{259D5901-6AF1-4267-85A5-261D9BCFD0C3}" dt="2023-10-12T11:06:53.715" v="0"/>
      <pc:docMkLst>
        <pc:docMk/>
      </pc:docMkLst>
      <pc:sldChg chg="ord">
        <pc:chgData name="Kovács István" userId="S::istvan.kovacs@umszki.hu::d3e05e56-2ede-4f4d-8678-677b52aebd9e" providerId="AD" clId="Web-{259D5901-6AF1-4267-85A5-261D9BCFD0C3}" dt="2023-10-12T11:06:53.715" v="0"/>
        <pc:sldMkLst>
          <pc:docMk/>
          <pc:sldMk cId="719252785" sldId="603"/>
        </pc:sldMkLst>
      </pc:sldChg>
    </pc:docChg>
  </pc:docChgLst>
  <pc:docChgLst>
    <pc:chgData name="Csatlós Zsombor" userId="S::zsombor.csatlos@umszki.hu::2cecc443-828f-444b-995c-33fab225c3ee" providerId="AD" clId="Web-{F92BBC31-4E98-47BD-BD8F-682C241E5474}"/>
    <pc:docChg chg="sldOrd">
      <pc:chgData name="Csatlós Zsombor" userId="S::zsombor.csatlos@umszki.hu::2cecc443-828f-444b-995c-33fab225c3ee" providerId="AD" clId="Web-{F92BBC31-4E98-47BD-BD8F-682C241E5474}" dt="2023-11-23T11:59:04.184" v="0"/>
      <pc:docMkLst>
        <pc:docMk/>
      </pc:docMkLst>
      <pc:sldChg chg="ord">
        <pc:chgData name="Csatlós Zsombor" userId="S::zsombor.csatlos@umszki.hu::2cecc443-828f-444b-995c-33fab225c3ee" providerId="AD" clId="Web-{F92BBC31-4E98-47BD-BD8F-682C241E5474}" dt="2023-11-23T11:59:04.184" v="0"/>
        <pc:sldMkLst>
          <pc:docMk/>
          <pc:sldMk cId="369896875" sldId="567"/>
        </pc:sldMkLst>
      </pc:sldChg>
    </pc:docChg>
  </pc:docChgLst>
  <pc:docChgLst>
    <pc:chgData name="Kriston Dávid" userId="54e85023-c1b6-4e74-99db-0713b476946e" providerId="ADAL" clId="{02BFFAB1-B1C5-4EBB-8965-57D8361A57EE}"/>
    <pc:docChg chg="custSel modSld">
      <pc:chgData name="Kriston Dávid" userId="54e85023-c1b6-4e74-99db-0713b476946e" providerId="ADAL" clId="{02BFFAB1-B1C5-4EBB-8965-57D8361A57EE}" dt="2023-09-28T17:55:11.045" v="45" actId="20577"/>
      <pc:docMkLst>
        <pc:docMk/>
      </pc:docMkLst>
      <pc:sldChg chg="modSp mod">
        <pc:chgData name="Kriston Dávid" userId="54e85023-c1b6-4e74-99db-0713b476946e" providerId="ADAL" clId="{02BFFAB1-B1C5-4EBB-8965-57D8361A57EE}" dt="2023-09-28T17:55:11.045" v="45" actId="20577"/>
        <pc:sldMkLst>
          <pc:docMk/>
          <pc:sldMk cId="3427892402" sldId="256"/>
        </pc:sldMkLst>
        <pc:spChg chg="mod">
          <ac:chgData name="Kriston Dávid" userId="54e85023-c1b6-4e74-99db-0713b476946e" providerId="ADAL" clId="{02BFFAB1-B1C5-4EBB-8965-57D8361A57EE}" dt="2023-09-28T17:54:51.434" v="17" actId="27636"/>
          <ac:spMkLst>
            <pc:docMk/>
            <pc:sldMk cId="3427892402" sldId="256"/>
            <ac:spMk id="7" creationId="{9D007FE0-0BFE-6BEB-DFB5-9B1BACDA56A6}"/>
          </ac:spMkLst>
        </pc:spChg>
        <pc:spChg chg="mod">
          <ac:chgData name="Kriston Dávid" userId="54e85023-c1b6-4e74-99db-0713b476946e" providerId="ADAL" clId="{02BFFAB1-B1C5-4EBB-8965-57D8361A57EE}" dt="2023-09-28T17:55:11.045" v="45" actId="20577"/>
          <ac:spMkLst>
            <pc:docMk/>
            <pc:sldMk cId="3427892402" sldId="256"/>
            <ac:spMk id="12" creationId="{7DD6AAB9-5425-AC10-FD73-D49453168A94}"/>
          </ac:spMkLst>
        </pc:spChg>
      </pc:sldChg>
    </pc:docChg>
  </pc:docChgLst>
  <pc:docChgLst>
    <pc:chgData name="Aradi Ádám Bátony" userId="S::adam.batony.aradi@umszki.hu::19c7ff76-6833-4a4a-90f0-9812fd1d1343" providerId="AD" clId="Web-{3A3B2C05-58C0-4136-B1F4-12A46E331121}"/>
    <pc:docChg chg="sldOrd modSection">
      <pc:chgData name="Aradi Ádám Bátony" userId="S::adam.batony.aradi@umszki.hu::19c7ff76-6833-4a4a-90f0-9812fd1d1343" providerId="AD" clId="Web-{3A3B2C05-58C0-4136-B1F4-12A46E331121}" dt="2023-10-08T08:50:53.568" v="0"/>
      <pc:docMkLst>
        <pc:docMk/>
      </pc:docMkLst>
      <pc:sldChg chg="ord">
        <pc:chgData name="Aradi Ádám Bátony" userId="S::adam.batony.aradi@umszki.hu::19c7ff76-6833-4a4a-90f0-9812fd1d1343" providerId="AD" clId="Web-{3A3B2C05-58C0-4136-B1F4-12A46E331121}" dt="2023-10-08T08:50:53.568" v="0"/>
        <pc:sldMkLst>
          <pc:docMk/>
          <pc:sldMk cId="3266667378" sldId="535"/>
        </pc:sldMkLst>
      </pc:sldChg>
    </pc:docChg>
  </pc:docChgLst>
  <pc:docChgLst>
    <pc:chgData name="Budainé Csercsa Kinga" userId="S::kinga.budaine.csercsa@umszki.hu::e4db74b4-e80d-465d-b385-2165456c4353" providerId="AD" clId="Web-{6BCA431F-F645-0A29-416D-02009236218B}"/>
    <pc:docChg chg="sldOrd">
      <pc:chgData name="Budainé Csercsa Kinga" userId="S::kinga.budaine.csercsa@umszki.hu::e4db74b4-e80d-465d-b385-2165456c4353" providerId="AD" clId="Web-{6BCA431F-F645-0A29-416D-02009236218B}" dt="2024-06-23T17:48:20.216" v="0"/>
      <pc:docMkLst>
        <pc:docMk/>
      </pc:docMkLst>
      <pc:sldChg chg="ord">
        <pc:chgData name="Budainé Csercsa Kinga" userId="S::kinga.budaine.csercsa@umszki.hu::e4db74b4-e80d-465d-b385-2165456c4353" providerId="AD" clId="Web-{6BCA431F-F645-0A29-416D-02009236218B}" dt="2024-06-23T17:48:20.216" v="0"/>
        <pc:sldMkLst>
          <pc:docMk/>
          <pc:sldMk cId="2071262332" sldId="5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423BF7-0849-4FFD-9534-69187185B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FDF9BA2B-0774-4389-A126-BCAC7D589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50EE0ED-BC47-4042-901C-065FEF9D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AA0EB4-2762-41DC-82E8-C1ADBF27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E0E843-8D9E-4BF7-B43D-15F497B05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314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865D9F-564C-4BA3-B0DF-8B9735F3F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5134F54-AF52-4489-A1DD-D885F6B0B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22DE05-83A1-4F04-A5FB-2CDBBC6B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9D3148-AF17-4B3F-8127-1B290975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605106-EB5F-4F6C-AE9E-AEFDD26B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42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90DFC3-3308-45EB-B00E-055EFA2F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7B662FB-348E-49DD-BC89-A3130EE12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5870A5A-0002-4AE7-BE6C-8C6D5A1E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B637F8-DBE9-4FCA-8149-079D8C868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483E344-EC36-4116-B2DA-A47D57E7B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514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24E0DB-5D7B-4EA3-A84E-654706C0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7DC15E-7A52-4C81-8395-AEBD811C6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0EC596B-2920-44CA-89C3-B4FB84B3AD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22C9692-6C33-433D-B0EC-B97354DC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071EED8-4FFE-41D2-8BB9-442CAEA81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97E1D4D-7E22-4EA3-A5DC-F2FC16AC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400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54BA04-129E-4817-A63A-DD9E3658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09F566C-ACD2-4F90-9871-677D013BB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1A8C4C5-FBC5-4626-B091-2ECFE7F6D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EBB6858-DA22-45C8-A799-2C84239797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831AA50-D77D-49B3-91A3-64F55EB7A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7E78935-9450-4FB6-8438-D80D226E8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560EB1D-C1CB-4BA0-A753-2668661BF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60B122EF-0A0E-480D-97E8-7D8F50F4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08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97D788-5D35-4D59-BC6D-AC014E70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B4A8B48-B509-4D84-8CF6-E7398BD1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9CF11B8-43C2-4A04-BA3D-E7FDED5E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6D7A8B5-2DF7-40C8-946D-4D2F15FD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211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81A5ED8-1650-4179-96E2-A8E9E51A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78AF215-B0F5-40AB-8B7D-DE20F55A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D3ADDA0-8BAE-4D2A-8E87-C2EBA301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6869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BA783C-0060-43A8-BE94-14286ED8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0224CA-80C0-4C03-947A-E4AF5B7C4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6E1B9D3-19A9-4761-BEDA-8474BF527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6BDA399-DBE7-481A-B755-33153B92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1F78114-70E0-41CF-A664-5AEC560A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2A0BFF4-593E-4863-9930-507FDC23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244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330FA0-C1BD-430B-A819-30935A0C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97144A5-80DD-4191-9D46-CCEEA565D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3441BCF-6261-478E-AE5A-B6CBA378F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02C53AD-681F-4451-AE54-D35CD3CED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E57D68A-9409-42FA-A946-83994CE9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9854F0-BF42-42D0-8675-0B1480AF6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701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015694-DFD1-4689-BB86-CC9A43CA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0763881-3B0D-4BF7-9D87-FEA0C1129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0A07B4-EE43-4B92-A43A-6DED1D8E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5E8BEC-02F1-4EBB-8FBE-4E6BB772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3273A7-FC46-4F7B-B848-CB023C6EF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159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FE4A583-E44C-41ED-9D67-DBB9A702A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AFEF618-D852-44AD-B204-D71C23618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222319-F3DF-4E5A-92EE-79C21749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14EE48E-1D9B-4B4B-9AEB-F3D30C69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32A9A91-EE87-4573-AF89-A34A2E84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082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2E96B5C-2312-407B-8B3C-114B0EDD5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998ABD2-FDF9-4877-A57C-0D7151FB5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C601FED-8FCA-4996-B580-B6BD769EF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963FD-72B9-4530-BAE9-6262F6092239}" type="datetimeFigureOut">
              <a:rPr lang="hu-HU" smtClean="0"/>
              <a:t>2024. 06. 23.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5E9469-92B6-412B-BE92-4693FC1F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DA90807-30DA-4A14-A925-80273E8C7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DBCAE-9D5B-4BBE-A70A-DF395F1095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2015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2.5/hu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hyperlink" Target="http://creativecommons.org/licenses/by-nc-sa/2.5/h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749F7830-F457-72B0-F82E-FB3CF2B24ADA}"/>
              </a:ext>
            </a:extLst>
          </p:cNvPr>
          <p:cNvCxnSpPr/>
          <p:nvPr/>
        </p:nvCxnSpPr>
        <p:spPr>
          <a:xfrm>
            <a:off x="3224613" y="4014897"/>
            <a:ext cx="57427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ím 1">
            <a:extLst>
              <a:ext uri="{FF2B5EF4-FFF2-40B4-BE49-F238E27FC236}">
                <a16:creationId xmlns:a16="http://schemas.microsoft.com/office/drawing/2014/main" id="{4555391B-CA49-0D5C-09F2-6F285CE35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717564"/>
            <a:ext cx="6105194" cy="1008393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FFFFFF"/>
                </a:solidFill>
              </a:rPr>
              <a:t>CSS</a:t>
            </a:r>
          </a:p>
        </p:txBody>
      </p:sp>
      <p:sp>
        <p:nvSpPr>
          <p:cNvPr id="12" name="Alcím 2">
            <a:extLst>
              <a:ext uri="{FF2B5EF4-FFF2-40B4-BE49-F238E27FC236}">
                <a16:creationId xmlns:a16="http://schemas.microsoft.com/office/drawing/2014/main" id="{87B49D5E-172D-35E7-99B7-67DF9AA89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6281" y="4268860"/>
            <a:ext cx="6105194" cy="682079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Cascading Style Sheets</a:t>
            </a:r>
          </a:p>
        </p:txBody>
      </p:sp>
    </p:spTree>
    <p:extLst>
      <p:ext uri="{BB962C8B-B14F-4D97-AF65-F5344CB8AC3E}">
        <p14:creationId xmlns:p14="http://schemas.microsoft.com/office/powerpoint/2010/main" val="49100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7">
            <a:extLst>
              <a:ext uri="{FF2B5EF4-FFF2-40B4-BE49-F238E27FC236}">
                <a16:creationId xmlns:a16="http://schemas.microsoft.com/office/drawing/2014/main" id="{745340DB-3F8C-C34D-0493-521BB06665B7}"/>
              </a:ext>
            </a:extLst>
          </p:cNvPr>
          <p:cNvSpPr txBox="1">
            <a:spLocks/>
          </p:cNvSpPr>
          <p:nvPr/>
        </p:nvSpPr>
        <p:spPr>
          <a:xfrm>
            <a:off x="6206383" y="1349785"/>
            <a:ext cx="5183188" cy="426685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 csak egy jegyzet!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felkészülést segíti…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Nem a teljes tananyag!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Tartalmaz szemléltetést. 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nélkülözi az oktató 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szóban hozzáfűzött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hu-HU" sz="2600" b="1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magyarázatát. </a:t>
            </a:r>
          </a:p>
        </p:txBody>
      </p:sp>
      <p:sp>
        <p:nvSpPr>
          <p:cNvPr id="21" name="Ellipszis 20">
            <a:extLst>
              <a:ext uri="{FF2B5EF4-FFF2-40B4-BE49-F238E27FC236}">
                <a16:creationId xmlns:a16="http://schemas.microsoft.com/office/drawing/2014/main" id="{EE4B3A6B-2246-C9AE-832E-9A4AA548D020}"/>
              </a:ext>
            </a:extLst>
          </p:cNvPr>
          <p:cNvSpPr/>
          <p:nvPr/>
        </p:nvSpPr>
        <p:spPr>
          <a:xfrm>
            <a:off x="2760291" y="1743342"/>
            <a:ext cx="931492" cy="93149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0945C9AE-761A-2316-701D-D4526ADC30C3}"/>
              </a:ext>
            </a:extLst>
          </p:cNvPr>
          <p:cNvSpPr/>
          <p:nvPr/>
        </p:nvSpPr>
        <p:spPr>
          <a:xfrm>
            <a:off x="863125" y="3674692"/>
            <a:ext cx="700755" cy="7776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4F5D0DEF-3575-5CA6-A722-76ECF265A918}"/>
              </a:ext>
            </a:extLst>
          </p:cNvPr>
          <p:cNvSpPr/>
          <p:nvPr/>
        </p:nvSpPr>
        <p:spPr>
          <a:xfrm>
            <a:off x="1849452" y="3674691"/>
            <a:ext cx="700755" cy="7776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5" name="Téglalap 24">
            <a:extLst>
              <a:ext uri="{FF2B5EF4-FFF2-40B4-BE49-F238E27FC236}">
                <a16:creationId xmlns:a16="http://schemas.microsoft.com/office/drawing/2014/main" id="{807E8CB0-8249-BDB1-731C-8A30273A1D36}"/>
              </a:ext>
            </a:extLst>
          </p:cNvPr>
          <p:cNvSpPr/>
          <p:nvPr/>
        </p:nvSpPr>
        <p:spPr>
          <a:xfrm>
            <a:off x="2832341" y="3673623"/>
            <a:ext cx="700755" cy="7776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6" name="Téglalap 25">
            <a:extLst>
              <a:ext uri="{FF2B5EF4-FFF2-40B4-BE49-F238E27FC236}">
                <a16:creationId xmlns:a16="http://schemas.microsoft.com/office/drawing/2014/main" id="{52CCE938-F852-9895-A6F4-13C9C5465A9D}"/>
              </a:ext>
            </a:extLst>
          </p:cNvPr>
          <p:cNvSpPr/>
          <p:nvPr/>
        </p:nvSpPr>
        <p:spPr>
          <a:xfrm>
            <a:off x="2349293" y="2682078"/>
            <a:ext cx="308449" cy="7776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7" name="Téglalap 26">
            <a:extLst>
              <a:ext uri="{FF2B5EF4-FFF2-40B4-BE49-F238E27FC236}">
                <a16:creationId xmlns:a16="http://schemas.microsoft.com/office/drawing/2014/main" id="{CDEB834C-41F5-4C9D-A79A-E7007879E5F6}"/>
              </a:ext>
            </a:extLst>
          </p:cNvPr>
          <p:cNvSpPr/>
          <p:nvPr/>
        </p:nvSpPr>
        <p:spPr>
          <a:xfrm>
            <a:off x="1392639" y="2707716"/>
            <a:ext cx="308449" cy="77766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 27">
            <a:extLst>
              <a:ext uri="{FF2B5EF4-FFF2-40B4-BE49-F238E27FC236}">
                <a16:creationId xmlns:a16="http://schemas.microsoft.com/office/drawing/2014/main" id="{DEE7A0C7-58E2-EB4C-654D-69262E7286C0}"/>
              </a:ext>
            </a:extLst>
          </p:cNvPr>
          <p:cNvSpPr/>
          <p:nvPr/>
        </p:nvSpPr>
        <p:spPr>
          <a:xfrm>
            <a:off x="1849452" y="1743342"/>
            <a:ext cx="308449" cy="7776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0" name="Ábra 19" descr="Leltárhiba egyszínű kitöltéssel">
            <a:extLst>
              <a:ext uri="{FF2B5EF4-FFF2-40B4-BE49-F238E27FC236}">
                <a16:creationId xmlns:a16="http://schemas.microsoft.com/office/drawing/2014/main" id="{36B6270D-14E5-B47A-038F-3257D9904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505" y="1281403"/>
            <a:ext cx="3630294" cy="363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43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Dobozmodell</a:t>
            </a:r>
          </a:p>
        </p:txBody>
      </p:sp>
      <p:sp>
        <p:nvSpPr>
          <p:cNvPr id="9" name="Tartalom helye 7">
            <a:extLst>
              <a:ext uri="{FF2B5EF4-FFF2-40B4-BE49-F238E27FC236}">
                <a16:creationId xmlns:a16="http://schemas.microsoft.com/office/drawing/2014/main" id="{3EEBD570-7064-CF7B-CF12-068CE9B4BD6B}"/>
              </a:ext>
            </a:extLst>
          </p:cNvPr>
          <p:cNvSpPr txBox="1">
            <a:spLocks/>
          </p:cNvSpPr>
          <p:nvPr/>
        </p:nvSpPr>
        <p:spPr>
          <a:xfrm>
            <a:off x="6172200" y="2978923"/>
            <a:ext cx="5183188" cy="32107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hu-HU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9F164FC4-49B1-0596-399C-1F11241AEABD}"/>
              </a:ext>
            </a:extLst>
          </p:cNvPr>
          <p:cNvSpPr txBox="1">
            <a:spLocks/>
          </p:cNvSpPr>
          <p:nvPr/>
        </p:nvSpPr>
        <p:spPr>
          <a:xfrm>
            <a:off x="836612" y="2978923"/>
            <a:ext cx="10518776" cy="35610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358775" algn="l"/>
              </a:tabLst>
            </a:pPr>
            <a:endParaRPr lang="en-US" sz="2400" noProof="1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4" name="Picture 2" descr="CSS Box Model - Basics Behind">
            <a:extLst>
              <a:ext uri="{FF2B5EF4-FFF2-40B4-BE49-F238E27FC236}">
                <a16:creationId xmlns:a16="http://schemas.microsoft.com/office/drawing/2014/main" id="{401EDA8E-8372-93DE-5D7A-5D6E2BB14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201" y="2753936"/>
            <a:ext cx="7653670" cy="356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707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Méretezés</a:t>
            </a:r>
          </a:p>
        </p:txBody>
      </p:sp>
      <p:sp>
        <p:nvSpPr>
          <p:cNvPr id="9" name="Tartalom helye 7">
            <a:extLst>
              <a:ext uri="{FF2B5EF4-FFF2-40B4-BE49-F238E27FC236}">
                <a16:creationId xmlns:a16="http://schemas.microsoft.com/office/drawing/2014/main" id="{3EEBD570-7064-CF7B-CF12-068CE9B4BD6B}"/>
              </a:ext>
            </a:extLst>
          </p:cNvPr>
          <p:cNvSpPr txBox="1">
            <a:spLocks/>
          </p:cNvSpPr>
          <p:nvPr/>
        </p:nvSpPr>
        <p:spPr>
          <a:xfrm>
            <a:off x="6172200" y="2978923"/>
            <a:ext cx="5183188" cy="32107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hu-HU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1A0E2678-2C03-7DA5-07EA-5729E6468D06}"/>
              </a:ext>
            </a:extLst>
          </p:cNvPr>
          <p:cNvSpPr txBox="1">
            <a:spLocks/>
          </p:cNvSpPr>
          <p:nvPr/>
        </p:nvSpPr>
        <p:spPr>
          <a:xfrm>
            <a:off x="989011" y="2753936"/>
            <a:ext cx="5253847" cy="393841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/* szélesség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/* magasság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Gondolatbuborék: felhő 4">
            <a:extLst>
              <a:ext uri="{FF2B5EF4-FFF2-40B4-BE49-F238E27FC236}">
                <a16:creationId xmlns:a16="http://schemas.microsoft.com/office/drawing/2014/main" id="{8496BFBD-5E23-C727-3219-FCA7ADAA55D8}"/>
              </a:ext>
            </a:extLst>
          </p:cNvPr>
          <p:cNvSpPr/>
          <p:nvPr/>
        </p:nvSpPr>
        <p:spPr>
          <a:xfrm>
            <a:off x="6776184" y="3313750"/>
            <a:ext cx="4426805" cy="2541083"/>
          </a:xfrm>
          <a:prstGeom prst="cloudCallout">
            <a:avLst>
              <a:gd name="adj1" fmla="val -32677"/>
              <a:gd name="adj2" fmla="val -101898"/>
            </a:avLst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/>
              <a:t>megadható</a:t>
            </a:r>
          </a:p>
          <a:p>
            <a:pPr algn="ctr"/>
            <a:r>
              <a:rPr lang="hu-HU" sz="2800" b="1"/>
              <a:t>képpontban</a:t>
            </a:r>
          </a:p>
          <a:p>
            <a:pPr algn="ctr"/>
            <a:r>
              <a:rPr lang="hu-HU" sz="2800" b="1"/>
              <a:t>(pixelben)</a:t>
            </a:r>
          </a:p>
        </p:txBody>
      </p:sp>
    </p:spTree>
    <p:extLst>
      <p:ext uri="{BB962C8B-B14F-4D97-AF65-F5344CB8AC3E}">
        <p14:creationId xmlns:p14="http://schemas.microsoft.com/office/powerpoint/2010/main" val="36989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Méretezés</a:t>
            </a:r>
          </a:p>
        </p:txBody>
      </p:sp>
      <p:sp>
        <p:nvSpPr>
          <p:cNvPr id="9" name="Tartalom helye 7">
            <a:extLst>
              <a:ext uri="{FF2B5EF4-FFF2-40B4-BE49-F238E27FC236}">
                <a16:creationId xmlns:a16="http://schemas.microsoft.com/office/drawing/2014/main" id="{3EEBD570-7064-CF7B-CF12-068CE9B4BD6B}"/>
              </a:ext>
            </a:extLst>
          </p:cNvPr>
          <p:cNvSpPr txBox="1">
            <a:spLocks/>
          </p:cNvSpPr>
          <p:nvPr/>
        </p:nvSpPr>
        <p:spPr>
          <a:xfrm>
            <a:off x="6172200" y="2978923"/>
            <a:ext cx="5183188" cy="32107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hu-HU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1A0E2678-2C03-7DA5-07EA-5729E6468D06}"/>
              </a:ext>
            </a:extLst>
          </p:cNvPr>
          <p:cNvSpPr txBox="1">
            <a:spLocks/>
          </p:cNvSpPr>
          <p:nvPr/>
        </p:nvSpPr>
        <p:spPr>
          <a:xfrm>
            <a:off x="989011" y="2753936"/>
            <a:ext cx="5253847" cy="393841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/* szélesség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latin typeface="Consolas" panose="020B0609020204030204" pitchFamily="49" charset="0"/>
              </a:rPr>
              <a:t>50%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	/* magasság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75%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Gondolatbuborék: felhő 2">
            <a:extLst>
              <a:ext uri="{FF2B5EF4-FFF2-40B4-BE49-F238E27FC236}">
                <a16:creationId xmlns:a16="http://schemas.microsoft.com/office/drawing/2014/main" id="{436A7A97-F77E-3281-8FA9-CF1CE8BC1C64}"/>
              </a:ext>
            </a:extLst>
          </p:cNvPr>
          <p:cNvSpPr/>
          <p:nvPr/>
        </p:nvSpPr>
        <p:spPr>
          <a:xfrm>
            <a:off x="6776184" y="3313750"/>
            <a:ext cx="4426805" cy="2541083"/>
          </a:xfrm>
          <a:prstGeom prst="cloudCallout">
            <a:avLst>
              <a:gd name="adj1" fmla="val -32676"/>
              <a:gd name="adj2" fmla="val -101897"/>
            </a:avLst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/>
              <a:t>vagy akár százalékosan</a:t>
            </a:r>
          </a:p>
          <a:p>
            <a:pPr algn="ctr"/>
            <a:r>
              <a:rPr lang="hu-HU" sz="2800" b="1"/>
              <a:t>(de másképp is!)</a:t>
            </a:r>
          </a:p>
        </p:txBody>
      </p:sp>
    </p:spTree>
    <p:extLst>
      <p:ext uri="{BB962C8B-B14F-4D97-AF65-F5344CB8AC3E}">
        <p14:creationId xmlns:p14="http://schemas.microsoft.com/office/powerpoint/2010/main" val="9788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Méretezés</a:t>
            </a:r>
          </a:p>
        </p:txBody>
      </p:sp>
      <p:sp>
        <p:nvSpPr>
          <p:cNvPr id="9" name="Tartalom helye 7">
            <a:extLst>
              <a:ext uri="{FF2B5EF4-FFF2-40B4-BE49-F238E27FC236}">
                <a16:creationId xmlns:a16="http://schemas.microsoft.com/office/drawing/2014/main" id="{3EEBD570-7064-CF7B-CF12-068CE9B4BD6B}"/>
              </a:ext>
            </a:extLst>
          </p:cNvPr>
          <p:cNvSpPr txBox="1">
            <a:spLocks/>
          </p:cNvSpPr>
          <p:nvPr/>
        </p:nvSpPr>
        <p:spPr>
          <a:xfrm>
            <a:off x="6172200" y="2978923"/>
            <a:ext cx="5183188" cy="32107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hu-HU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1A0E2678-2C03-7DA5-07EA-5729E6468D06}"/>
              </a:ext>
            </a:extLst>
          </p:cNvPr>
          <p:cNvSpPr txBox="1">
            <a:spLocks/>
          </p:cNvSpPr>
          <p:nvPr/>
        </p:nvSpPr>
        <p:spPr>
          <a:xfrm>
            <a:off x="989011" y="2753936"/>
            <a:ext cx="5253847" cy="393841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min-width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400px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-width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800px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hu-HU" sz="2600" b="1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75%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min-height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-height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600px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" name="Gondolatbuborék: felhő 2">
            <a:extLst>
              <a:ext uri="{FF2B5EF4-FFF2-40B4-BE49-F238E27FC236}">
                <a16:creationId xmlns:a16="http://schemas.microsoft.com/office/drawing/2014/main" id="{2C9A13AD-3A65-C8FE-C5D1-20C346C8B679}"/>
              </a:ext>
            </a:extLst>
          </p:cNvPr>
          <p:cNvSpPr/>
          <p:nvPr/>
        </p:nvSpPr>
        <p:spPr>
          <a:xfrm>
            <a:off x="6776184" y="3313750"/>
            <a:ext cx="4426805" cy="2541083"/>
          </a:xfrm>
          <a:prstGeom prst="cloudCallout">
            <a:avLst>
              <a:gd name="adj1" fmla="val -32676"/>
              <a:gd name="adj2" fmla="val -101897"/>
            </a:avLst>
          </a:prstGeom>
          <a:ln w="285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800" b="1"/>
              <a:t>Van minimum &amp; maximum párjuk</a:t>
            </a:r>
          </a:p>
        </p:txBody>
      </p:sp>
    </p:spTree>
    <p:extLst>
      <p:ext uri="{BB962C8B-B14F-4D97-AF65-F5344CB8AC3E}">
        <p14:creationId xmlns:p14="http://schemas.microsoft.com/office/powerpoint/2010/main" val="2071262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Szegélyek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61E33719-BEF3-E64D-65CE-797850FFCC81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61052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artalom helye 5">
            <a:extLst>
              <a:ext uri="{FF2B5EF4-FFF2-40B4-BE49-F238E27FC236}">
                <a16:creationId xmlns:a16="http://schemas.microsoft.com/office/drawing/2014/main" id="{8B33C7B7-F035-359A-F43C-D53940B673F6}"/>
              </a:ext>
            </a:extLst>
          </p:cNvPr>
          <p:cNvSpPr txBox="1">
            <a:spLocks/>
          </p:cNvSpPr>
          <p:nvPr/>
        </p:nvSpPr>
        <p:spPr>
          <a:xfrm>
            <a:off x="6095998" y="587139"/>
            <a:ext cx="5752699" cy="572425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5560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vastagsága */</a:t>
            </a:r>
            <a:r>
              <a:rPr lang="hu-HU" sz="2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border-width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3px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színe */</a:t>
            </a:r>
            <a:r>
              <a:rPr lang="hu-HU" sz="2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border-color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vonal típusa */</a:t>
            </a:r>
            <a:r>
              <a:rPr lang="hu-HU" sz="2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border-style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dashed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sarkok kerekítése */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táblázat belső kerete */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border-</a:t>
            </a: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collapse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 defTabSz="355600">
              <a:buNone/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219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Szegélyek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61E33719-BEF3-E64D-65CE-797850FFCC81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61052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artalom helye 5">
            <a:extLst>
              <a:ext uri="{FF2B5EF4-FFF2-40B4-BE49-F238E27FC236}">
                <a16:creationId xmlns:a16="http://schemas.microsoft.com/office/drawing/2014/main" id="{8B33C7B7-F035-359A-F43C-D53940B673F6}"/>
              </a:ext>
            </a:extLst>
          </p:cNvPr>
          <p:cNvSpPr txBox="1">
            <a:spLocks/>
          </p:cNvSpPr>
          <p:nvPr/>
        </p:nvSpPr>
        <p:spPr>
          <a:xfrm>
            <a:off x="6095999" y="580894"/>
            <a:ext cx="6096001" cy="5773587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5560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rövid alak */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3px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 noProof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 defTabSz="355600">
              <a:buNone/>
            </a:pPr>
            <a:r>
              <a:rPr lang="hu-HU" sz="2600" b="1" noProof="1">
                <a:solidFill>
                  <a:srgbClr val="222222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 defTabSz="35560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oldalanként */</a:t>
            </a:r>
            <a:endParaRPr lang="hu-HU" sz="2600" b="1" noProof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latin typeface="Consolas" panose="020B0609020204030204" pitchFamily="49" charset="0"/>
            </a:endParaRP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-right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dashed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hu-HU" sz="2600" b="1">
                <a:latin typeface="Consolas" panose="020B0609020204030204" pitchFamily="49" charset="0"/>
              </a:rPr>
              <a:t>;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hu-HU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-bottom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dotted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hu-HU" sz="2600" b="1">
                <a:latin typeface="Consolas" panose="020B0609020204030204" pitchFamily="49" charset="0"/>
              </a:rPr>
              <a:t>;</a:t>
            </a:r>
          </a:p>
          <a:p>
            <a:pPr marL="0" indent="0" defTabSz="35560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hu-HU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left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4px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hu-HU" sz="2600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latin typeface="Consolas" panose="020B0609020204030204" pitchFamily="49" charset="0"/>
            </a:endParaRP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92028DE3-16F1-C3EA-6A6C-AF04AE5DA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76523"/>
              </p:ext>
            </p:extLst>
          </p:nvPr>
        </p:nvGraphicFramePr>
        <p:xfrm>
          <a:off x="7167611" y="4893847"/>
          <a:ext cx="3609473" cy="1460634"/>
        </p:xfrm>
        <a:graphic>
          <a:graphicData uri="http://schemas.openxmlformats.org/drawingml/2006/table">
            <a:tbl>
              <a:tblPr/>
              <a:tblGrid>
                <a:gridCol w="3609473">
                  <a:extLst>
                    <a:ext uri="{9D8B030D-6E8A-4147-A177-3AD203B41FA5}">
                      <a16:colId xmlns:a16="http://schemas.microsoft.com/office/drawing/2014/main" val="1534230492"/>
                    </a:ext>
                  </a:extLst>
                </a:gridCol>
              </a:tblGrid>
              <a:tr h="1460634">
                <a:tc>
                  <a:txBody>
                    <a:bodyPr/>
                    <a:lstStyle/>
                    <a:p>
                      <a:endParaRPr lang="hu-HU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6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2858452"/>
                  </a:ext>
                </a:extLst>
              </a:tr>
            </a:tbl>
          </a:graphicData>
        </a:graphic>
      </p:graphicFrame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CE37BD75-C799-63E6-5C69-AE5F98E12610}"/>
              </a:ext>
            </a:extLst>
          </p:cNvPr>
          <p:cNvCxnSpPr/>
          <p:nvPr/>
        </p:nvCxnSpPr>
        <p:spPr>
          <a:xfrm>
            <a:off x="7247285" y="4911291"/>
            <a:ext cx="0" cy="144319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4E60EEC7-AFC6-85A5-167D-B2D692135DDA}"/>
              </a:ext>
            </a:extLst>
          </p:cNvPr>
          <p:cNvCxnSpPr/>
          <p:nvPr/>
        </p:nvCxnSpPr>
        <p:spPr>
          <a:xfrm>
            <a:off x="7167611" y="4911291"/>
            <a:ext cx="0" cy="144319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397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Külső eltartás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61E33719-BEF3-E64D-65CE-797850FFCC81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61052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artalom helye 5">
            <a:extLst>
              <a:ext uri="{FF2B5EF4-FFF2-40B4-BE49-F238E27FC236}">
                <a16:creationId xmlns:a16="http://schemas.microsoft.com/office/drawing/2014/main" id="{A22543CD-03B3-808F-9784-BD792E59BD00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57358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egységesen */</a:t>
            </a:r>
            <a:endParaRPr lang="hu-HU" sz="2600" b="1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oldalanként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margin-bottom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hu-HU" sz="2600" b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blokk középre igazítása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margin-right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77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Belső eltartás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61E33719-BEF3-E64D-65CE-797850FFCC81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61052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0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artalom helye 5">
            <a:extLst>
              <a:ext uri="{FF2B5EF4-FFF2-40B4-BE49-F238E27FC236}">
                <a16:creationId xmlns:a16="http://schemas.microsoft.com/office/drawing/2014/main" id="{A22543CD-03B3-808F-9784-BD792E59BD00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57358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egységesen */</a:t>
            </a:r>
            <a:endParaRPr lang="hu-HU" sz="2600" b="1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 noProof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 noProof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fent-lent bal-jobb párok */</a:t>
            </a:r>
            <a:endParaRPr lang="hu-HU" sz="2600" b="1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 20px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 noProof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oldalanként */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-top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-right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-bottom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-left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679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Színezés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4CFF1E77-9921-6FBA-67BE-3842C58270A4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752699" cy="57358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alapértelmezett színek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hexadecimális kód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latin typeface="Consolas" panose="020B0609020204030204" pitchFamily="49" charset="0"/>
              </a:rPr>
              <a:t>#</a:t>
            </a:r>
            <a:r>
              <a:rPr lang="hu-HU" sz="2600" b="1" noProof="1">
                <a:solidFill>
                  <a:srgbClr val="FF0000"/>
                </a:solidFill>
                <a:latin typeface="Consolas" panose="020B0609020204030204" pitchFamily="49" charset="0"/>
              </a:rPr>
              <a:t>F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2600" b="1" noProof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n-US" sz="2600" b="1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Red, Green, Blue</a:t>
            </a:r>
            <a:r>
              <a:rPr lang="hu-HU" sz="2600" b="1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arány</a:t>
            </a:r>
            <a:r>
              <a:rPr lang="en-US" sz="2600" b="1" noProof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Áttetszőség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chemeClr val="accent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Háttérszín */</a:t>
            </a: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34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Betűk formázása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FCB8F482-7174-87CC-36FC-53218A494048}"/>
              </a:ext>
            </a:extLst>
          </p:cNvPr>
          <p:cNvSpPr txBox="1">
            <a:spLocks/>
          </p:cNvSpPr>
          <p:nvPr/>
        </p:nvSpPr>
        <p:spPr>
          <a:xfrm>
            <a:off x="6095999" y="587141"/>
            <a:ext cx="5936480" cy="572611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dőlt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font-style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italic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félkövér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betűtípus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"Consolas"</a:t>
            </a:r>
            <a:r>
              <a:rPr lang="hu-HU" sz="2600" b="1" noProof="1">
                <a:solidFill>
                  <a:srgbClr val="0451A5"/>
                </a:solidFill>
                <a:latin typeface="Consolas" panose="020B0609020204030204" pitchFamily="49" charset="0"/>
              </a:rPr>
              <a:t>, serif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betűméret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pt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sormagasság */</a:t>
            </a:r>
          </a:p>
          <a:p>
            <a:pPr marL="0" indent="0">
              <a:buNone/>
            </a:pP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line-height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3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Szöveg formázása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546931"/>
            <a:ext cx="5752699" cy="63110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középre zárt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sorkizárt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justify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aláhúzás (kikapcsolása)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rgbClr val="008000"/>
                </a:solidFill>
                <a:latin typeface="Consolas" panose="020B0609020204030204" pitchFamily="49" charset="0"/>
              </a:rPr>
              <a:t>az </a:t>
            </a: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első sor behúzása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text-indent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br>
              <a:rPr lang="hu-HU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csupa kis-nagybetűsre */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</a:t>
            </a:r>
            <a:r>
              <a:rPr lang="hu-HU" sz="2600" b="1" noProof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600" b="1" noProof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uppercase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600" b="1" noProof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67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Egyenes összekötő 3">
            <a:extLst>
              <a:ext uri="{FF2B5EF4-FFF2-40B4-BE49-F238E27FC236}">
                <a16:creationId xmlns:a16="http://schemas.microsoft.com/office/drawing/2014/main" id="{2E77EF8C-FC0A-4EEF-5B70-6A8D82B99833}"/>
              </a:ext>
            </a:extLst>
          </p:cNvPr>
          <p:cNvCxnSpPr/>
          <p:nvPr/>
        </p:nvCxnSpPr>
        <p:spPr>
          <a:xfrm>
            <a:off x="3224613" y="4014897"/>
            <a:ext cx="57427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ím 1">
            <a:extLst>
              <a:ext uri="{FF2B5EF4-FFF2-40B4-BE49-F238E27FC236}">
                <a16:creationId xmlns:a16="http://schemas.microsoft.com/office/drawing/2014/main" id="{0A90B7CD-3904-D436-E3C1-BA688B051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717564"/>
            <a:ext cx="6105194" cy="1008393"/>
          </a:xfrm>
        </p:spPr>
        <p:txBody>
          <a:bodyPr>
            <a:normAutofit/>
          </a:bodyPr>
          <a:lstStyle/>
          <a:p>
            <a:r>
              <a:rPr lang="hu-HU" b="1">
                <a:solidFill>
                  <a:srgbClr val="FFFFFF"/>
                </a:solidFill>
              </a:rPr>
              <a:t>Szelektorok</a:t>
            </a:r>
          </a:p>
        </p:txBody>
      </p:sp>
      <p:sp>
        <p:nvSpPr>
          <p:cNvPr id="12" name="Alcím 2">
            <a:extLst>
              <a:ext uri="{FF2B5EF4-FFF2-40B4-BE49-F238E27FC236}">
                <a16:creationId xmlns:a16="http://schemas.microsoft.com/office/drawing/2014/main" id="{90DBA58A-78B0-81E4-8F26-57420564B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6281" y="4268860"/>
            <a:ext cx="6105194" cy="682079"/>
          </a:xfrm>
        </p:spPr>
        <p:txBody>
          <a:bodyPr>
            <a:normAutofit/>
          </a:bodyPr>
          <a:lstStyle/>
          <a:p>
            <a:r>
              <a:rPr lang="hu-HU" sz="2400" b="1">
                <a:solidFill>
                  <a:schemeClr val="bg1"/>
                </a:solidFill>
              </a:rPr>
              <a:t>Elemválasztók</a:t>
            </a:r>
            <a:endParaRPr lang="en-US" sz="24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469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3" y="1243013"/>
            <a:ext cx="3586672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Típus</a:t>
            </a:r>
            <a:br>
              <a:rPr lang="hu-HU" sz="6000" b="1">
                <a:solidFill>
                  <a:srgbClr val="FFFFFF"/>
                </a:solidFill>
              </a:rPr>
            </a:br>
            <a:r>
              <a:rPr lang="hu-HU" sz="6000" b="1">
                <a:solidFill>
                  <a:srgbClr val="FFFFFF"/>
                </a:solidFill>
              </a:rPr>
              <a:t>alapján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1941275"/>
            <a:ext cx="5752699" cy="4371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minden bekezdést 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listák minden elemét 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minden hivatkozást 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4F3D80-2B81-4007-7CE6-6D184559A75E}"/>
              </a:ext>
            </a:extLst>
          </p:cNvPr>
          <p:cNvSpPr txBox="1"/>
          <p:nvPr/>
        </p:nvSpPr>
        <p:spPr>
          <a:xfrm>
            <a:off x="6095999" y="486383"/>
            <a:ext cx="575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bg1"/>
                </a:solidFill>
              </a:rPr>
              <a:t>Egyszerre formázza meg </a:t>
            </a:r>
          </a:p>
          <a:p>
            <a:pPr algn="ctr"/>
            <a:r>
              <a:rPr lang="hu-HU" sz="2800" b="1">
                <a:solidFill>
                  <a:schemeClr val="bg1"/>
                </a:solidFill>
              </a:rPr>
              <a:t>az </a:t>
            </a:r>
            <a:r>
              <a:rPr lang="hu-HU" sz="2800" b="1" u="sng">
                <a:solidFill>
                  <a:schemeClr val="bg1"/>
                </a:solidFill>
              </a:rPr>
              <a:t>összes</a:t>
            </a:r>
            <a:r>
              <a:rPr lang="hu-HU" sz="2800" b="1">
                <a:solidFill>
                  <a:schemeClr val="bg1"/>
                </a:solidFill>
              </a:rPr>
              <a:t> ilyen nevű címkét</a:t>
            </a:r>
          </a:p>
        </p:txBody>
      </p:sp>
    </p:spTree>
    <p:extLst>
      <p:ext uri="{BB962C8B-B14F-4D97-AF65-F5344CB8AC3E}">
        <p14:creationId xmlns:p14="http://schemas.microsoft.com/office/powerpoint/2010/main" val="2691119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2" y="1243013"/>
            <a:ext cx="3635311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Azonosító</a:t>
            </a:r>
            <a:br>
              <a:rPr lang="hu-HU" sz="6000" b="1">
                <a:solidFill>
                  <a:srgbClr val="FFFFFF"/>
                </a:solidFill>
              </a:rPr>
            </a:br>
            <a:r>
              <a:rPr lang="hu-HU" sz="6000" b="1">
                <a:solidFill>
                  <a:srgbClr val="FFFFFF"/>
                </a:solidFill>
              </a:rPr>
              <a:t>alapján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1941275"/>
            <a:ext cx="6045336" cy="4371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="company"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  <a:tabLst>
                <a:tab pos="174625" algn="l"/>
              </a:tabLst>
            </a:pP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img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="logo"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src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"logo.jpg"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600" b="1" strike="sngStrike" noProof="1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174625" algn="l"/>
              </a:tabLst>
            </a:pP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="slogan"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hu-HU" sz="2600" b="1" noProof="1">
                <a:solidFill>
                  <a:schemeClr val="bg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&lt;/p&gt;</a:t>
            </a:r>
          </a:p>
          <a:p>
            <a:pPr marL="0" indent="0">
              <a:buNone/>
              <a:tabLst>
                <a:tab pos="174625" algn="l"/>
              </a:tabLst>
            </a:pP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sz="2600" b="1" noProof="1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chemeClr val="accent6"/>
                </a:solidFill>
                <a:latin typeface="Consolas" panose="020B0609020204030204" pitchFamily="49" charset="0"/>
              </a:rPr>
              <a:t>megadása kettőskereszttel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hu-HU" sz="2600" b="1">
                <a:solidFill>
                  <a:srgbClr val="800000"/>
                </a:solidFill>
                <a:latin typeface="Consolas" panose="020B0609020204030204" pitchFamily="49" charset="0"/>
              </a:rPr>
              <a:t>company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  <a:endParaRPr lang="hu-HU" sz="2600" b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logo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  <a:endParaRPr lang="hu-HU" sz="2600" b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slogan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4F3D80-2B81-4007-7CE6-6D184559A75E}"/>
              </a:ext>
            </a:extLst>
          </p:cNvPr>
          <p:cNvSpPr txBox="1"/>
          <p:nvPr/>
        </p:nvSpPr>
        <p:spPr>
          <a:xfrm>
            <a:off x="6095999" y="486383"/>
            <a:ext cx="575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bg1"/>
                </a:solidFill>
              </a:rPr>
              <a:t>Azt az </a:t>
            </a:r>
            <a:r>
              <a:rPr lang="hu-HU" sz="2800" b="1" u="sng">
                <a:solidFill>
                  <a:schemeClr val="bg1"/>
                </a:solidFill>
              </a:rPr>
              <a:t>egyetlen</a:t>
            </a:r>
            <a:r>
              <a:rPr lang="hu-HU" sz="2800" b="1">
                <a:solidFill>
                  <a:schemeClr val="bg1"/>
                </a:solidFill>
              </a:rPr>
              <a:t> elemet formázza,</a:t>
            </a:r>
          </a:p>
          <a:p>
            <a:pPr algn="ctr"/>
            <a:r>
              <a:rPr lang="hu-HU" sz="2800" b="1">
                <a:solidFill>
                  <a:schemeClr val="bg1"/>
                </a:solidFill>
              </a:rPr>
              <a:t>   amin szerepel, hogy </a:t>
            </a:r>
            <a:r>
              <a:rPr lang="hu-HU" sz="2800" b="1" i="1">
                <a:solidFill>
                  <a:schemeClr val="bg1"/>
                </a:solidFill>
              </a:rPr>
              <a:t>id="xy"</a:t>
            </a:r>
          </a:p>
        </p:txBody>
      </p:sp>
    </p:spTree>
    <p:extLst>
      <p:ext uri="{BB962C8B-B14F-4D97-AF65-F5344CB8AC3E}">
        <p14:creationId xmlns:p14="http://schemas.microsoft.com/office/powerpoint/2010/main" val="1416798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2" y="1243013"/>
            <a:ext cx="3635311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Osztály</a:t>
            </a:r>
            <a:br>
              <a:rPr lang="hu-HU" sz="6000" b="1">
                <a:solidFill>
                  <a:srgbClr val="FFFFFF"/>
                </a:solidFill>
              </a:rPr>
            </a:br>
            <a:r>
              <a:rPr lang="hu-HU" sz="6000" b="1">
                <a:solidFill>
                  <a:srgbClr val="FFFFFF"/>
                </a:solidFill>
              </a:rPr>
              <a:t>alapján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1941275"/>
            <a:ext cx="6045336" cy="4371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="cikk"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&gt;&lt;/div&gt;</a:t>
            </a:r>
          </a:p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div&gt; </a:t>
            </a:r>
            <a:r>
              <a:rPr lang="hu-HU" sz="2600" b="1" noProof="1">
                <a:solidFill>
                  <a:schemeClr val="bg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ezt nem 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sz="2600" b="1" noProof="1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="cikk kiemelt"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&gt;&lt;/div&gt;</a:t>
            </a:r>
            <a:endParaRPr lang="en-US" sz="2600" b="1" noProof="1">
              <a:solidFill>
                <a:srgbClr val="FF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div&gt; </a:t>
            </a:r>
            <a:r>
              <a:rPr lang="hu-HU" sz="2600" b="1" noProof="1">
                <a:solidFill>
                  <a:schemeClr val="bg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ezt sem 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&lt;/div&gt;</a:t>
            </a:r>
            <a:endParaRPr lang="en-US" sz="2600" b="1" noProof="1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 </a:t>
            </a:r>
            <a:r>
              <a:rPr lang="hu-HU" sz="2600" b="1" noProof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hu-HU" sz="2600" b="1" noProof="1">
                <a:solidFill>
                  <a:srgbClr val="8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="cikk kiemelt"</a:t>
            </a:r>
            <a:r>
              <a:rPr lang="hu-HU" sz="2600" b="1" noProof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&gt;&lt;/div&gt;</a:t>
            </a:r>
          </a:p>
          <a:p>
            <a:pPr marL="0" indent="0">
              <a:buNone/>
            </a:pPr>
            <a:b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chemeClr val="accent6"/>
                </a:solidFill>
                <a:latin typeface="Consolas" panose="020B0609020204030204" pitchFamily="49" charset="0"/>
              </a:rPr>
              <a:t>megadása ponttal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2600" b="1">
                <a:solidFill>
                  <a:srgbClr val="800000"/>
                </a:solidFill>
                <a:latin typeface="Consolas" panose="020B0609020204030204" pitchFamily="49" charset="0"/>
              </a:rPr>
              <a:t>cikk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  <a:endParaRPr lang="hu-HU" sz="2600" b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kiemelt</a:t>
            </a:r>
            <a:r>
              <a:rPr lang="hu-HU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4F3D80-2B81-4007-7CE6-6D184559A75E}"/>
              </a:ext>
            </a:extLst>
          </p:cNvPr>
          <p:cNvSpPr txBox="1"/>
          <p:nvPr/>
        </p:nvSpPr>
        <p:spPr>
          <a:xfrm>
            <a:off x="6095999" y="486383"/>
            <a:ext cx="575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 u="sng">
                <a:solidFill>
                  <a:schemeClr val="bg1"/>
                </a:solidFill>
              </a:rPr>
              <a:t>Minden</a:t>
            </a:r>
            <a:r>
              <a:rPr lang="hu-HU" sz="2800" b="1">
                <a:solidFill>
                  <a:schemeClr val="bg1"/>
                </a:solidFill>
              </a:rPr>
              <a:t> olyan elemet formáz,</a:t>
            </a:r>
          </a:p>
          <a:p>
            <a:pPr algn="ctr"/>
            <a:r>
              <a:rPr lang="hu-HU" sz="2800" b="1">
                <a:solidFill>
                  <a:schemeClr val="bg1"/>
                </a:solidFill>
              </a:rPr>
              <a:t>   amin szerepel, hogy </a:t>
            </a:r>
            <a:r>
              <a:rPr lang="hu-HU" sz="2800" b="1" i="1">
                <a:solidFill>
                  <a:schemeClr val="bg1"/>
                </a:solidFill>
              </a:rPr>
              <a:t>class="xy"</a:t>
            </a:r>
          </a:p>
        </p:txBody>
      </p:sp>
    </p:spTree>
    <p:extLst>
      <p:ext uri="{BB962C8B-B14F-4D97-AF65-F5344CB8AC3E}">
        <p14:creationId xmlns:p14="http://schemas.microsoft.com/office/powerpoint/2010/main" val="5865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2" y="1243013"/>
            <a:ext cx="3635311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Állapot alapján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1941275"/>
            <a:ext cx="6045336" cy="4371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chemeClr val="accent6"/>
                </a:solidFill>
                <a:latin typeface="Consolas" panose="020B0609020204030204" pitchFamily="49" charset="0"/>
              </a:rPr>
              <a:t>megadása kettősponttal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es-ES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hu-HU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hu-HU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active</a:t>
            </a:r>
            <a:r>
              <a:rPr lang="hu-HU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visited</a:t>
            </a:r>
            <a:r>
              <a:rPr lang="es-E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chemeClr val="bg1"/>
                </a:solidFill>
                <a:latin typeface="Consolas" panose="020B0609020204030204" pitchFamily="49" charset="0"/>
              </a:rPr>
              <a:t>…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chemeClr val="accent6"/>
                </a:solidFill>
                <a:latin typeface="Consolas" panose="020B0609020204030204" pitchFamily="49" charset="0"/>
              </a:rPr>
              <a:t>ha rajta áll az egér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</a:pPr>
            <a:r>
              <a:rPr lang="es-ES" sz="2600" b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es-E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chemeClr val="bg1"/>
                </a:solidFill>
                <a:latin typeface="Consolas" panose="020B0609020204030204" pitchFamily="49" charset="0"/>
              </a:rPr>
              <a:t>…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2600" b="1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es-E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chemeClr val="bg1"/>
                </a:solidFill>
                <a:latin typeface="Consolas" panose="020B0609020204030204" pitchFamily="49" charset="0"/>
              </a:rPr>
              <a:t>…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hu-HU" sz="2600" b="1" noProof="1">
              <a:solidFill>
                <a:srgbClr val="22222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hu-HU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td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ES" sz="2600" b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es-ES" sz="2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hu-HU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>
                <a:solidFill>
                  <a:schemeClr val="bg1"/>
                </a:solidFill>
                <a:latin typeface="Consolas" panose="020B0609020204030204" pitchFamily="49" charset="0"/>
              </a:rPr>
              <a:t>… </a:t>
            </a:r>
            <a:r>
              <a:rPr lang="es-ES" sz="2600" b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}</a:t>
            </a: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4F3D80-2B81-4007-7CE6-6D184559A75E}"/>
              </a:ext>
            </a:extLst>
          </p:cNvPr>
          <p:cNvSpPr txBox="1"/>
          <p:nvPr/>
        </p:nvSpPr>
        <p:spPr>
          <a:xfrm>
            <a:off x="6095999" y="486383"/>
            <a:ext cx="575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bg1"/>
                </a:solidFill>
              </a:rPr>
              <a:t>Akkor formáz egy elemet, azonosítót vagy osztályt, ha az bizonyos állapotú</a:t>
            </a:r>
          </a:p>
        </p:txBody>
      </p:sp>
    </p:spTree>
    <p:extLst>
      <p:ext uri="{BB962C8B-B14F-4D97-AF65-F5344CB8AC3E}">
        <p14:creationId xmlns:p14="http://schemas.microsoft.com/office/powerpoint/2010/main" val="1651151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CB6C291-6CAF-46DF-ACFF-AADF0FD03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BADBCA-DA20-4279-93C6-011DEF18A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53" t="3964" b="3964"/>
          <a:stretch>
            <a:fillRect/>
          </a:stretch>
        </p:blipFill>
        <p:spPr>
          <a:xfrm>
            <a:off x="0" y="1"/>
            <a:ext cx="7554138" cy="6857999"/>
          </a:xfrm>
          <a:custGeom>
            <a:avLst/>
            <a:gdLst>
              <a:gd name="connsiteX0" fmla="*/ 0 w 7554138"/>
              <a:gd name="connsiteY0" fmla="*/ 0 h 6857999"/>
              <a:gd name="connsiteX1" fmla="*/ 7554138 w 7554138"/>
              <a:gd name="connsiteY1" fmla="*/ 0 h 6857999"/>
              <a:gd name="connsiteX2" fmla="*/ 7554138 w 7554138"/>
              <a:gd name="connsiteY2" fmla="*/ 6857999 h 6857999"/>
              <a:gd name="connsiteX3" fmla="*/ 0 w 755413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138" h="6857999">
                <a:moveTo>
                  <a:pt x="0" y="0"/>
                </a:moveTo>
                <a:lnTo>
                  <a:pt x="7554138" y="0"/>
                </a:lnTo>
                <a:lnTo>
                  <a:pt x="755413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03" y="1243013"/>
            <a:ext cx="4345430" cy="4371974"/>
          </a:xfrm>
        </p:spPr>
        <p:txBody>
          <a:bodyPr>
            <a:normAutofit/>
          </a:bodyPr>
          <a:lstStyle/>
          <a:p>
            <a:pPr algn="ctr"/>
            <a:r>
              <a:rPr lang="hu-HU" sz="6000" b="1">
                <a:solidFill>
                  <a:srgbClr val="FFFFFF"/>
                </a:solidFill>
              </a:rPr>
              <a:t>Szelektorok</a:t>
            </a:r>
            <a:br>
              <a:rPr lang="hu-HU" sz="6000" b="1">
                <a:solidFill>
                  <a:srgbClr val="FFFFFF"/>
                </a:solidFill>
              </a:rPr>
            </a:br>
            <a:r>
              <a:rPr lang="hu-HU" sz="6000" b="1">
                <a:solidFill>
                  <a:srgbClr val="FFFFFF"/>
                </a:solidFill>
              </a:rPr>
              <a:t>kombinálása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35DC46-5663-471D-AADB-81E00E65B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0850" y="0"/>
            <a:ext cx="539115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5">
            <a:extLst>
              <a:ext uri="{FF2B5EF4-FFF2-40B4-BE49-F238E27FC236}">
                <a16:creationId xmlns:a16="http://schemas.microsoft.com/office/drawing/2014/main" id="{E75325D5-8646-1EB4-C870-9ABBC262ECC3}"/>
              </a:ext>
            </a:extLst>
          </p:cNvPr>
          <p:cNvSpPr txBox="1">
            <a:spLocks/>
          </p:cNvSpPr>
          <p:nvPr/>
        </p:nvSpPr>
        <p:spPr>
          <a:xfrm>
            <a:off x="6095999" y="1941275"/>
            <a:ext cx="5752699" cy="437197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>
                <a:solidFill>
                  <a:schemeClr val="accent6"/>
                </a:solidFill>
                <a:latin typeface="Consolas" panose="020B0609020204030204" pitchFamily="49" charset="0"/>
              </a:rPr>
              <a:t>többféle elem egyszerre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2600" b="1" noProof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hu-HU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2600" b="1" noProof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h3 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2600" b="1" noProof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p</a:t>
            </a:r>
            <a:r>
              <a:rPr lang="en-US" sz="2600" b="1" noProof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img 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 u="sng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csak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sz="2600" b="1" noProof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&lt;ol&gt; 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listák elemeit 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en-US" sz="2600" b="1" noProof="1">
                <a:solidFill>
                  <a:srgbClr val="800000"/>
                </a:solidFill>
                <a:latin typeface="Consolas" panose="020B0609020204030204" pitchFamily="49" charset="0"/>
              </a:rPr>
              <a:t>o</a:t>
            </a: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 li 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222222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534988" algn="l"/>
              </a:tabLst>
            </a:pP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hu-HU" sz="2600" b="1" u="sng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csak</a:t>
            </a:r>
            <a:r>
              <a:rPr lang="hu-HU" sz="2600" b="1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 a menüsor linkjeit */</a:t>
            </a:r>
          </a:p>
          <a:p>
            <a:pPr marL="0" indent="0">
              <a:buNone/>
              <a:tabLst>
                <a:tab pos="534988" algn="l"/>
              </a:tabLst>
            </a:pPr>
            <a:r>
              <a:rPr lang="en-US" sz="2600" b="1" noProof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nav a </a:t>
            </a:r>
            <a:r>
              <a:rPr lang="en-US" sz="2600" b="1" noProof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{ … }</a:t>
            </a:r>
          </a:p>
          <a:p>
            <a:pPr marL="0" indent="0">
              <a:buNone/>
              <a:tabLst>
                <a:tab pos="534988" algn="l"/>
              </a:tabLst>
            </a:pPr>
            <a:endParaRPr lang="hu-HU" sz="2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DB4F3D80-2B81-4007-7CE6-6D184559A75E}"/>
              </a:ext>
            </a:extLst>
          </p:cNvPr>
          <p:cNvSpPr txBox="1"/>
          <p:nvPr/>
        </p:nvSpPr>
        <p:spPr>
          <a:xfrm>
            <a:off x="6095999" y="486383"/>
            <a:ext cx="57526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b="1">
                <a:solidFill>
                  <a:schemeClr val="bg1"/>
                </a:solidFill>
              </a:rPr>
              <a:t>Vesszővel többet is felsorolhatunk, vagy szóközzel pontosíthatjuk őket</a:t>
            </a:r>
          </a:p>
        </p:txBody>
      </p:sp>
    </p:spTree>
    <p:extLst>
      <p:ext uri="{BB962C8B-B14F-4D97-AF65-F5344CB8AC3E}">
        <p14:creationId xmlns:p14="http://schemas.microsoft.com/office/powerpoint/2010/main" val="4251066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rtalom helye 2">
            <a:extLst>
              <a:ext uri="{FF2B5EF4-FFF2-40B4-BE49-F238E27FC236}">
                <a16:creationId xmlns:a16="http://schemas.microsoft.com/office/drawing/2014/main" id="{6F05D0E4-B582-43BB-B371-01EA06A84220}"/>
              </a:ext>
            </a:extLst>
          </p:cNvPr>
          <p:cNvSpPr txBox="1">
            <a:spLocks/>
          </p:cNvSpPr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hu-HU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Vége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F91D4580-7912-BF91-297A-7D092F3EB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888" y="15240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4">
            <a:extLst>
              <a:ext uri="{FF2B5EF4-FFF2-40B4-BE49-F238E27FC236}">
                <a16:creationId xmlns:a16="http://schemas.microsoft.com/office/drawing/2014/main" id="{73D92586-CA9C-7E7C-C132-44D7B134F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sp>
        <p:nvSpPr>
          <p:cNvPr id="4" name="Tartalom helye 2">
            <a:extLst>
              <a:ext uri="{FF2B5EF4-FFF2-40B4-BE49-F238E27FC236}">
                <a16:creationId xmlns:a16="http://schemas.microsoft.com/office/drawing/2014/main" id="{A71FA094-D5BD-BDC8-B78C-35C160B9A6D8}"/>
              </a:ext>
            </a:extLst>
          </p:cNvPr>
          <p:cNvSpPr txBox="1">
            <a:spLocks/>
          </p:cNvSpPr>
          <p:nvPr/>
        </p:nvSpPr>
        <p:spPr>
          <a:xfrm>
            <a:off x="3195803" y="2845036"/>
            <a:ext cx="6105194" cy="116792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ts val="600"/>
              </a:spcAft>
              <a:buNone/>
            </a:pPr>
            <a:r>
              <a:rPr lang="hu-HU" sz="7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4258749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A16612-ACD2-4A16-8F2B-4514FD6BF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57B98C-542C-442B-A046-0685AA2E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Creative Commons</a:t>
            </a:r>
          </a:p>
        </p:txBody>
      </p:sp>
      <p:sp>
        <p:nvSpPr>
          <p:cNvPr id="11" name="Tartalom helye 5">
            <a:extLst>
              <a:ext uri="{FF2B5EF4-FFF2-40B4-BE49-F238E27FC236}">
                <a16:creationId xmlns:a16="http://schemas.microsoft.com/office/drawing/2014/main" id="{1A0E2678-2C03-7DA5-07EA-5729E6468D06}"/>
              </a:ext>
            </a:extLst>
          </p:cNvPr>
          <p:cNvSpPr txBox="1">
            <a:spLocks/>
          </p:cNvSpPr>
          <p:nvPr/>
        </p:nvSpPr>
        <p:spPr>
          <a:xfrm>
            <a:off x="682083" y="5529125"/>
            <a:ext cx="10827530" cy="7691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800" b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Nevezd meg! Ne add el! Így add tovább!</a:t>
            </a:r>
            <a:endParaRPr lang="hu-HU" sz="2800" b="1">
              <a:solidFill>
                <a:schemeClr val="accent1"/>
              </a:solidFill>
            </a:endParaRPr>
          </a:p>
        </p:txBody>
      </p:sp>
      <p:pic>
        <p:nvPicPr>
          <p:cNvPr id="3" name="Tartalom helye 9">
            <a:hlinkClick r:id="rId4"/>
            <a:extLst>
              <a:ext uri="{FF2B5EF4-FFF2-40B4-BE49-F238E27FC236}">
                <a16:creationId xmlns:a16="http://schemas.microsoft.com/office/drawing/2014/main" id="{FBF1154F-87A1-AA30-5A0D-4B32F8909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052" y="2978923"/>
            <a:ext cx="5892798" cy="20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7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7DEC84C4F5BF8640AD09669C7C26893A" ma:contentTypeVersion="14" ma:contentTypeDescription="Új dokumentum létrehozása." ma:contentTypeScope="" ma:versionID="93365e4c5cf4ec1c344ba3ab76b5d313">
  <xsd:schema xmlns:xsd="http://www.w3.org/2001/XMLSchema" xmlns:xs="http://www.w3.org/2001/XMLSchema" xmlns:p="http://schemas.microsoft.com/office/2006/metadata/properties" xmlns:ns2="16abea2a-bc47-41c5-a50d-7bf915be0b0a" xmlns:ns3="2648cbc6-377b-495f-8949-1ccc618d8f44" targetNamespace="http://schemas.microsoft.com/office/2006/metadata/properties" ma:root="true" ma:fieldsID="30c3c2e9d38cc8f801eb8d523db13fed" ns2:_="" ns3:_="">
    <xsd:import namespace="16abea2a-bc47-41c5-a50d-7bf915be0b0a"/>
    <xsd:import namespace="2648cbc6-377b-495f-8949-1ccc618d8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abea2a-bc47-41c5-a50d-7bf915be0b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Képcímkék" ma:readOnly="false" ma:fieldId="{5cf76f15-5ced-4ddc-b409-7134ff3c332f}" ma:taxonomyMulti="true" ma:sspId="44aa7fb3-e186-498d-ae78-2c37cd4f3c4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cbc6-377b-495f-8949-1ccc618d8f4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7dc728e-7072-40ae-8fea-5e6460f4dbc8}" ma:internalName="TaxCatchAll" ma:showField="CatchAllData" ma:web="2648cbc6-377b-495f-8949-1ccc618d8f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648cbc6-377b-495f-8949-1ccc618d8f44" xsi:nil="true"/>
    <lcf76f155ced4ddcb4097134ff3c332f xmlns="16abea2a-bc47-41c5-a50d-7bf915be0b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53834D2-9AD8-40D5-A8B0-3D8AA3F685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E3148A-BDA6-4729-9595-73A5834F8E17}"/>
</file>

<file path=customXml/itemProps3.xml><?xml version="1.0" encoding="utf-8"?>
<ds:datastoreItem xmlns:ds="http://schemas.openxmlformats.org/officeDocument/2006/customXml" ds:itemID="{4597E06A-52D9-4F63-B883-137D77AAF8D2}">
  <ds:schemaRefs>
    <ds:schemaRef ds:uri="b1f1c134-eb4b-4278-aa43-8d1d8ae042bb"/>
    <ds:schemaRef ds:uri="http://schemas.microsoft.com/office/2006/documentManagement/types"/>
    <ds:schemaRef ds:uri="http://schemas.microsoft.com/office/infopath/2007/PartnerControls"/>
    <ds:schemaRef ds:uri="efac25ff-0c40-4f7e-a666-0a5c23175e4a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  <ds:schemaRef ds:uri="2648cbc6-377b-495f-8949-1ccc618d8f44"/>
    <ds:schemaRef ds:uri="16abea2a-bc47-41c5-a50d-7bf915be0b0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Office-téma</vt:lpstr>
      <vt:lpstr>CSS</vt:lpstr>
      <vt:lpstr>PowerPoint Presentation</vt:lpstr>
      <vt:lpstr>Dobozmodell</vt:lpstr>
      <vt:lpstr>Méretezés</vt:lpstr>
      <vt:lpstr>Méretezés</vt:lpstr>
      <vt:lpstr>Méretezés</vt:lpstr>
      <vt:lpstr>Szegélyek</vt:lpstr>
      <vt:lpstr>Szegélyek</vt:lpstr>
      <vt:lpstr>Külső eltartás</vt:lpstr>
      <vt:lpstr>Belső eltartás</vt:lpstr>
      <vt:lpstr>Színezés</vt:lpstr>
      <vt:lpstr>Betűk formázása</vt:lpstr>
      <vt:lpstr>Szöveg formázása</vt:lpstr>
      <vt:lpstr>Szelektorok</vt:lpstr>
      <vt:lpstr>Típus alapján</vt:lpstr>
      <vt:lpstr>Azonosító alapján</vt:lpstr>
      <vt:lpstr>Osztály alapján</vt:lpstr>
      <vt:lpstr>Állapot alapján</vt:lpstr>
      <vt:lpstr>Szelektorok kombinálása</vt:lpstr>
      <vt:lpstr>PowerPoint Presentation</vt:lpstr>
      <vt:lpstr>Creative Commons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Adatbázisok</dc:title>
  <dc:creator>Dávid Kriston</dc:creator>
  <cp:lastModifiedBy>Tanár2</cp:lastModifiedBy>
  <cp:revision>7</cp:revision>
  <dcterms:created xsi:type="dcterms:W3CDTF">2020-11-13T17:43:24Z</dcterms:created>
  <dcterms:modified xsi:type="dcterms:W3CDTF">2024-06-23T19:08:14Z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0x0101007DEC84C4F5BF8640AD09669C7C26893A</vt:lpwstr>
  </property>
  <property fmtid="{D5CDD505-2E9C-101B-9397-08002B2CF9AE}" pid="3" name="MediaServiceImageTags">
    <vt:lpwstr/>
  </property>
</Properties>
</file>